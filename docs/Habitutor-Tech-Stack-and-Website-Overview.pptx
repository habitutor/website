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7815" cy="6858000"/>
          </a:xfrm>
          <a:prstGeom prst="rect">
            <a:avLst/>
          </a:prstGeom>
          <a:solidFill>
            <a:srgbClr val="24356B"/>
          </a:solidFill>
          <a:ln w="12700">
            <a:solidFill>
              <a:srgbClr val="24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83879" y="5303520"/>
            <a:ext cx="4007815" cy="155448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94360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A74C8"/>
                </a:solidFill>
                <a:latin typeface="Aptos"/>
              </a:rPr>
              <a:t>HABITUTOR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6812280" cy="187451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151F3F"/>
                </a:solidFill>
                <a:latin typeface="Aptos"/>
              </a:rPr>
              <a:t>Tech Stack &amp;
Website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61722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777777"/>
                </a:solidFill>
                <a:latin typeface="Aptos"/>
              </a:rPr>
              <a:t>A high-level guide to the platform architecture, key technology choices, user flows, and delivery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09160"/>
            <a:ext cx="114300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4754880"/>
            <a:ext cx="1033271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React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4709160"/>
            <a:ext cx="150876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2264" y="4754880"/>
            <a:ext cx="1399031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TanStack 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4709160"/>
            <a:ext cx="141732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3" y="4754880"/>
            <a:ext cx="130759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Hono + oRPC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709160"/>
            <a:ext cx="132588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4754880"/>
            <a:ext cx="121615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PostgreSQL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914400"/>
            <a:ext cx="3246120" cy="4830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6016752"/>
            <a:ext cx="5303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Aptos"/>
              </a:rPr>
              <a:t>Prepared from the current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09360"/>
            <a:ext cx="20116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Aptos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What the website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Habitutor is a learning platform for Indonesian SNBT/UTBK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3474720" cy="18288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18288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3063239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4356B"/>
                </a:solidFill>
                <a:latin typeface="Aptos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3063239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Students access structured classes containing video, notes, and practice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64208"/>
            <a:ext cx="3474720" cy="18288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64208"/>
            <a:ext cx="82296" cy="18288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47088"/>
            <a:ext cx="3063239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4356B"/>
                </a:solidFill>
                <a:latin typeface="Aptos"/>
              </a:rPr>
              <a:t>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063239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Flashcards, practice packs, and timed tryouts turn content into active recall and exam rehearsal.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64208"/>
            <a:ext cx="3474720" cy="18288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664208"/>
            <a:ext cx="82296" cy="18288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47088"/>
            <a:ext cx="3063239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4356B"/>
                </a:solidFill>
                <a:latin typeface="Aptos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86000"/>
            <a:ext cx="3063239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Dashboards, streaks, progress, results, notifications, and profile goals keep learning 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2103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4356B"/>
                </a:solidFill>
                <a:latin typeface="Aptos"/>
              </a:rPr>
              <a:t>Business model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40280" y="4187952"/>
            <a:ext cx="8915400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4498848"/>
            <a:ext cx="224028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544568"/>
            <a:ext cx="213055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Public marketing &amp;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07992"/>
            <a:ext cx="320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4498848"/>
            <a:ext cx="201168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4544568"/>
            <a:ext cx="190195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Account &amp; 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507992"/>
            <a:ext cx="320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4498848"/>
            <a:ext cx="196596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4544568"/>
            <a:ext cx="1856231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Free / premium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507992"/>
            <a:ext cx="320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4498848"/>
            <a:ext cx="169164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4544568"/>
            <a:ext cx="158191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Midtrans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67544" y="4507992"/>
            <a:ext cx="320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42448" y="4498848"/>
            <a:ext cx="1097280" cy="384048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DF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7312" y="4544568"/>
            <a:ext cx="98755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CA35B"/>
                </a:solidFill>
                <a:latin typeface="Aptos"/>
              </a:rPr>
              <a:t>Premium unlock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85232"/>
            <a:ext cx="10698480" cy="7315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51F3F"/>
                </a:solidFill>
                <a:latin typeface="Aptos"/>
              </a:rPr>
              <a:t>Administrators manage learning content, question banks, tryouts, users, promotions, transactions, referrals, and platform analytics.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apps/web/src/routes; packages/api/src/routers/index.ts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A typed monorepo separates presentation, API/business logic, authentication, and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2148840" cy="1920240"/>
          </a:xfrm>
          <a:prstGeom prst="roundRect">
            <a:avLst/>
          </a:prstGeom>
          <a:solidFill>
            <a:srgbClr val="FFF5D7"/>
          </a:solidFill>
          <a:ln w="1905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181965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4356B"/>
                </a:solidFill>
                <a:latin typeface="Apto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1819656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Browser / PWA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938528"/>
            <a:ext cx="2148840" cy="1920240"/>
          </a:xfrm>
          <a:prstGeom prst="roundRect">
            <a:avLst/>
          </a:prstGeom>
          <a:solidFill>
            <a:srgbClr val="F4FAFF"/>
          </a:solidFill>
          <a:ln w="1905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2194560"/>
            <a:ext cx="181965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4356B"/>
                </a:solidFill>
                <a:latin typeface="Aptos"/>
              </a:rPr>
              <a:t>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743200"/>
            <a:ext cx="1819656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React 19 • TanStack Start
Router • Query • Tailwind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938528"/>
            <a:ext cx="2148840" cy="19202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4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2194560"/>
            <a:ext cx="181965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4356B"/>
                </a:solidFill>
                <a:latin typeface="Aptos"/>
              </a:rPr>
              <a:t>API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743200"/>
            <a:ext cx="1819656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Bun • Hono • oRPC
ArkType • OpenAPI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938528"/>
            <a:ext cx="2148840" cy="1920240"/>
          </a:xfrm>
          <a:prstGeom prst="roundRect">
            <a:avLst/>
          </a:prstGeom>
          <a:solidFill>
            <a:srgbClr val="DDF7E9"/>
          </a:solidFill>
          <a:ln w="1905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194560"/>
            <a:ext cx="181965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4356B"/>
                </a:solidFill>
                <a:latin typeface="Aptos"/>
              </a:rPr>
              <a:t>Core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743200"/>
            <a:ext cx="1819656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Better Auth • Business logic
Midtrans • Resend • Cloudinary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670048"/>
            <a:ext cx="45720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670048"/>
            <a:ext cx="45720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670048"/>
            <a:ext cx="45720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709160"/>
            <a:ext cx="3063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892040"/>
            <a:ext cx="2606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4356B"/>
                </a:solidFill>
                <a:latin typeface="Aptos"/>
              </a:rPr>
              <a:t>PostgreSQL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230368"/>
            <a:ext cx="2606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Aptos"/>
              </a:rPr>
              <a:t>Drizzle ORM + migrations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0" y="3858768"/>
            <a:ext cx="0" cy="850392"/>
          </a:xfrm>
          <a:prstGeom prst="line">
            <a:avLst/>
          </a:prstGeom>
          <a:ln w="25400">
            <a:solidFill>
              <a:srgbClr val="5A7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5870448"/>
            <a:ext cx="102870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4356B"/>
                </a:solidFill>
                <a:latin typeface="Aptos"/>
              </a:rPr>
              <a:t>Shared TypeScript packages keep API contracts and domain types consistent end to 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package.json; apps/web/vite.config.ts; apps/server/src/index.ts; packages/*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Frontend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Server-rendered React with file-based routes and type-safe server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063240" cy="1627632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627632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20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26517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React 19 + TanStack Start
Vite 8 + Nitro/Bun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91640"/>
            <a:ext cx="3063240" cy="16276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691640"/>
            <a:ext cx="82296" cy="1627632"/>
          </a:xfrm>
          <a:prstGeom prst="rect">
            <a:avLst/>
          </a:prstGeom>
          <a:solidFill>
            <a:srgbClr val="24356B"/>
          </a:solidFill>
          <a:ln w="12700">
            <a:solidFill>
              <a:srgbClr val="24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13432"/>
            <a:ext cx="26517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TanStack Router
Generated route tree
Protected route layouts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1691640"/>
            <a:ext cx="3063240" cy="1627632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1691640"/>
            <a:ext cx="82296" cy="1627632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1874520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Data &amp; 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313432"/>
            <a:ext cx="26517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TanStack Query + oRPC
TanStack Form + ArkType
React state for UI concerns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22191"/>
            <a:ext cx="3063240" cy="1627632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22191"/>
            <a:ext cx="82296" cy="1627632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005072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43983"/>
            <a:ext cx="26517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Tailwind CSS 4
Radix UI / shadcn patterns
Motion + Phosphor icons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822191"/>
            <a:ext cx="3063240" cy="1627632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822191"/>
            <a:ext cx="82296" cy="1627632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005072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Rich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443983"/>
            <a:ext cx="26517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Tiptap editor
Recharts analytics
Video and image helpers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3822191"/>
            <a:ext cx="30632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71231" y="3822191"/>
            <a:ext cx="82296" cy="1627632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005072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4443983"/>
            <a:ext cx="26517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Responsive design
PWA onboarding
SEO metadata and SSR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apps/web/package.json; apps/web/src/router.tsx; apps/web/src/index.css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Backend and API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Hono hosts authentication, RPC, OpenAPI endpoints, webhooks, and background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657600" cy="4251960"/>
          </a:xfrm>
          <a:prstGeom prst="roundRect">
            <a:avLst/>
          </a:prstGeom>
          <a:solidFill>
            <a:srgbClr val="151F3F"/>
          </a:solidFill>
          <a:ln w="12700">
            <a:solidFill>
              <a:srgbClr val="15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3063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Request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1  CORS and request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2  Session context from Better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3  Typed oRPC route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4  ArkType input/output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5  Business logic + Drizzle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56048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6  Typed response to React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691640"/>
            <a:ext cx="3200400" cy="12984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1691640"/>
            <a:ext cx="82296" cy="1298448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874520"/>
            <a:ext cx="2788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Two API 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13432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RPC at /rpc for the app
OpenAPI at /api-reference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91640"/>
            <a:ext cx="3429000" cy="1298448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91640"/>
            <a:ext cx="82296" cy="1298448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20"/>
            <a:ext cx="30175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13432"/>
            <a:ext cx="30175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Public, authenticated, and admin procedures enforce access at the API boundary.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264408"/>
            <a:ext cx="3200400" cy="1298448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3264408"/>
            <a:ext cx="82296" cy="1298448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447288"/>
            <a:ext cx="2788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Business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886200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Dashboard, classes, flashcards, practice packs, tryouts, profile, streaks, referrals.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264408"/>
            <a:ext cx="3429000" cy="129844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264408"/>
            <a:ext cx="82296" cy="129844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447288"/>
            <a:ext cx="30175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Commerce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886200"/>
            <a:ext cx="30175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Pricing, promotions, transactions, premium tiers, signed Midtrans webhook.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837176"/>
            <a:ext cx="6903720" cy="1106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4837176"/>
            <a:ext cx="82296" cy="1106424"/>
          </a:xfrm>
          <a:prstGeom prst="rect">
            <a:avLst/>
          </a:prstGeom>
          <a:solidFill>
            <a:srgbClr val="24356B"/>
          </a:solidFill>
          <a:ln w="12700">
            <a:solidFill>
              <a:srgbClr val="24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5020056"/>
            <a:ext cx="6492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Operational behavior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458968"/>
            <a:ext cx="6492240" cy="356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Errors are centrally logged; a reconciliation job repairs payment state; form-data is normalized before routing.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apps/server/src/index.ts; packages/api/src/index.ts; packages/api/src/routers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Data, identity, and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Core platform records stay in PostgreSQL; specialist services handle identity-adjacent workflows.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3749039" cy="44988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32004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4356B"/>
                </a:solidFill>
                <a:latin typeface="Aptos"/>
              </a:rPr>
              <a:t>PostgreSQL domain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87752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•  Users, sessions, profiles &amp;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•  Subtests, questions &amp; practice packs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38728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•  Tryout sessions, answers &amp;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014216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•  Flashcards, streaks &amp;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89704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•  Transactions, promos &amp; referrals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965192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ptos"/>
              </a:rPr>
              <a:t>•  Notifications, community &amp; universities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673352"/>
            <a:ext cx="3154680" cy="12618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1673352"/>
            <a:ext cx="82296" cy="1261872"/>
          </a:xfrm>
          <a:prstGeom prst="rect">
            <a:avLst/>
          </a:prstGeom>
          <a:solidFill>
            <a:srgbClr val="24356B"/>
          </a:solidFill>
          <a:ln w="12700">
            <a:solidFill>
              <a:srgbClr val="24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856232"/>
            <a:ext cx="2743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Better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95144"/>
            <a:ext cx="2743200" cy="51206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Email/password, Google OAuth, OTP verification, sessions, roles, premium fields.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673352"/>
            <a:ext cx="3364992" cy="1261872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673352"/>
            <a:ext cx="82296" cy="1261872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856232"/>
            <a:ext cx="2953512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Resend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295144"/>
            <a:ext cx="2953512" cy="51206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Verification, password-reset, and account-deletion emails.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55264"/>
            <a:ext cx="3154680" cy="1261872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3255264"/>
            <a:ext cx="82296" cy="1261872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438144"/>
            <a:ext cx="2743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Midtrans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877056"/>
            <a:ext cx="2743200" cy="51206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Payment checkout and signed webhook notifications update transaction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255264"/>
            <a:ext cx="3364992" cy="1261872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3255264"/>
            <a:ext cx="82296" cy="1261872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438144"/>
            <a:ext cx="2953512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Media &amp;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3877056"/>
            <a:ext cx="2953512" cy="51206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Cloudinary uploads, YouTube playback, and Expo push notifications.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837176"/>
            <a:ext cx="6812280" cy="1335024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4837176"/>
            <a:ext cx="82296" cy="1335024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5020056"/>
            <a:ext cx="64008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Security posture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458968"/>
            <a:ext cx="640080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HTTP-only session cookies, trusted origins, role checks, typed validation, and webhook signature verification protect key boundaries.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packages/db/src/schema; packages/auth/src/index.ts; packages/api/package.json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How it works: student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The app combines a guided learning path with practice loops and progress feedback.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87451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673352"/>
            <a:ext cx="640080" cy="640080"/>
          </a:xfrm>
          <a:prstGeom prst="round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773936"/>
            <a:ext cx="640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87752"/>
            <a:ext cx="1600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4356B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82112"/>
            <a:ext cx="150876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Landing pages explain features and premium plans.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7" y="3044952"/>
            <a:ext cx="411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2011680"/>
            <a:ext cx="187451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1673352"/>
            <a:ext cx="640080" cy="640080"/>
          </a:xfrm>
          <a:prstGeom prst="roundRect">
            <a:avLst/>
          </a:prstGeom>
          <a:solidFill>
            <a:srgbClr val="24356B"/>
          </a:solidFill>
          <a:ln w="12700">
            <a:solidFill>
              <a:srgbClr val="24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773936"/>
            <a:ext cx="640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7" y="2587752"/>
            <a:ext cx="1600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4356B"/>
                </a:solidFill>
                <a:latin typeface="Aptos"/>
              </a:rPr>
              <a:t>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182112"/>
            <a:ext cx="150876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Register, verify email or use Google, then complete onboarding.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3044952"/>
            <a:ext cx="411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2011680"/>
            <a:ext cx="187451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59" y="1673352"/>
            <a:ext cx="640080" cy="640080"/>
          </a:xfrm>
          <a:prstGeom prst="round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1773936"/>
            <a:ext cx="640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2587752"/>
            <a:ext cx="1600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4356B"/>
                </a:solidFill>
                <a:latin typeface="Aptos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3182112"/>
            <a:ext cx="150876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Dashboard opens classes with video, notes, and exercises.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044952"/>
            <a:ext cx="411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16368" y="2011680"/>
            <a:ext cx="187451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673352"/>
            <a:ext cx="640080" cy="640080"/>
          </a:xfrm>
          <a:prstGeom prst="round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773936"/>
            <a:ext cx="640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587752"/>
            <a:ext cx="1600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4356B"/>
                </a:solidFill>
                <a:latin typeface="Aptos"/>
              </a:rP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182112"/>
            <a:ext cx="150876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Use flashcards, packs, and timed tryouts.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3044952"/>
            <a:ext cx="411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02368" y="2011680"/>
            <a:ext cx="187451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24160" y="1673352"/>
            <a:ext cx="640080" cy="640080"/>
          </a:xfrm>
          <a:prstGeom prst="round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0" y="1773936"/>
            <a:ext cx="640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587752"/>
            <a:ext cx="1600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4356B"/>
                </a:solidFill>
                <a:latin typeface="Aptos"/>
              </a:rPr>
              <a:t>Improve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3182112"/>
            <a:ext cx="150876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Aptos"/>
              </a:rPr>
              <a:t>Review results, streaks, progress, and notifications.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5349240"/>
            <a:ext cx="9372600" cy="6858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5532120"/>
            <a:ext cx="8823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24356B"/>
                </a:solidFill>
                <a:latin typeface="Aptos"/>
              </a:rPr>
              <a:t>Premium status gates additional content and community benefits; successful payment unlocks access.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apps/web/src/routes/_auth; apps/web/src/routes/_authenticated; packages/api/src/routers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How it works: operations and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Administrators use the same typed platform to publish material and operate the business.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2926080"/>
            <a:ext cx="2240280" cy="1325880"/>
          </a:xfrm>
          <a:prstGeom prst="roundRect">
            <a:avLst/>
          </a:prstGeom>
          <a:solidFill>
            <a:srgbClr val="151F3F"/>
          </a:solidFill>
          <a:ln w="12700">
            <a:solidFill>
              <a:srgbClr val="15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3163824"/>
            <a:ext cx="1737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Admin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3602736"/>
            <a:ext cx="1737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Role-protected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2926080" cy="123444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82296" cy="123444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20"/>
            <a:ext cx="25146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13432"/>
            <a:ext cx="251460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Classes, videos, notes,
subtests and ordering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03320" y="2313432"/>
            <a:ext cx="1280160" cy="1298448"/>
          </a:xfrm>
          <a:prstGeom prst="line">
            <a:avLst/>
          </a:prstGeom>
          <a:ln w="21590">
            <a:solidFill>
              <a:srgbClr val="5A7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1691640"/>
            <a:ext cx="2926080" cy="123444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1691640"/>
            <a:ext cx="82296" cy="123444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874520"/>
            <a:ext cx="25146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13432"/>
            <a:ext cx="251460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Question banks, packs,
tryouts and scoring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223760" y="2313432"/>
            <a:ext cx="1234440" cy="1298448"/>
          </a:xfrm>
          <a:prstGeom prst="line">
            <a:avLst/>
          </a:prstGeom>
          <a:ln w="21590">
            <a:solidFill>
              <a:srgbClr val="1CA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4617720"/>
            <a:ext cx="2926080" cy="123444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617720"/>
            <a:ext cx="82296" cy="123444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25146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39512"/>
            <a:ext cx="251460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Users, premium access,
referrals and promos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703320" y="3611880"/>
            <a:ext cx="1280160" cy="1627632"/>
          </a:xfrm>
          <a:prstGeom prst="line">
            <a:avLst/>
          </a:prstGeom>
          <a:ln w="21590">
            <a:solidFill>
              <a:srgbClr val="FED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58200" y="4617720"/>
            <a:ext cx="2926080" cy="123444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58200" y="4617720"/>
            <a:ext cx="82296" cy="123444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800600"/>
            <a:ext cx="25146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239512"/>
            <a:ext cx="251460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Transactions, statistics,
dashboard announcements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223760" y="3611880"/>
            <a:ext cx="1234440" cy="1627632"/>
          </a:xfrm>
          <a:prstGeom prst="line">
            <a:avLst/>
          </a:prstGeom>
          <a:ln w="21590">
            <a:solidFill>
              <a:srgbClr val="FB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8880" y="6080760"/>
            <a:ext cx="7223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4356B"/>
                </a:solidFill>
                <a:latin typeface="Aptos"/>
              </a:rPr>
              <a:t>Changes flow through validated API procedures into PostgreSQL, then appear in student-facing queries.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apps/web/src/routes/admin; packages/api/src/routers/admin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24356B"/>
                </a:solidFill>
                <a:latin typeface="Aptos"/>
              </a:rPr>
              <a:t>Engineering and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ptos"/>
              </a:rPr>
              <a:t>The monorepo is designed for shared types, repeatable builds, and automated deployment.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1005840" cy="64008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5720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5A74C8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154680" cy="1417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417320"/>
          </a:xfrm>
          <a:prstGeom prst="rect">
            <a:avLst/>
          </a:prstGeom>
          <a:solidFill>
            <a:srgbClr val="24356B"/>
          </a:solidFill>
          <a:ln w="12700">
            <a:solidFill>
              <a:srgbClr val="24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20"/>
            <a:ext cx="2743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4356B"/>
                </a:solidFill>
                <a:latin typeface="Aptos"/>
              </a:rPr>
              <a:t>Monorepo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274320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Bun workspaces + Turborepo coordinate apps and shared packages.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691640"/>
            <a:ext cx="3154680" cy="141732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1691640"/>
            <a:ext cx="82296" cy="141732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74520"/>
            <a:ext cx="27432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4356B"/>
                </a:solidFill>
                <a:latin typeface="Aptos"/>
              </a:rPr>
              <a:t>Quality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13432"/>
            <a:ext cx="274320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Oxlint, Oxfmt, TypeScript checks, and Bun tests run before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91640"/>
            <a:ext cx="4041648" cy="141732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9792" y="1691640"/>
            <a:ext cx="82296" cy="141732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1874520"/>
            <a:ext cx="363016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4356B"/>
                </a:solidFill>
                <a:latin typeface="Aptos"/>
              </a:rPr>
              <a:t>Build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313432"/>
            <a:ext cx="3630168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tos"/>
              </a:rPr>
              <a:t>Web runs via TanStack Start/Nitro; server is bundled for Bun and containerized.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78224"/>
            <a:ext cx="1417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main branch 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050791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005072"/>
            <a:ext cx="164592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8064" y="4050791"/>
            <a:ext cx="153619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50791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005072"/>
            <a:ext cx="141732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4050791"/>
            <a:ext cx="130759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Lint +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50791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4005072"/>
            <a:ext cx="1874519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3" y="4050791"/>
            <a:ext cx="1764791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Build / push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050791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5A74C8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005072"/>
            <a:ext cx="1508760" cy="384048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DF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4050791"/>
            <a:ext cx="1399031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CA35B"/>
                </a:solidFill>
                <a:latin typeface="Aptos"/>
              </a:rPr>
              <a:t>Coolify 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5074920"/>
            <a:ext cx="10058400" cy="84124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5303520"/>
            <a:ext cx="94183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4356B"/>
                </a:solidFill>
                <a:latin typeface="Aptos"/>
              </a:rPr>
              <a:t>Database migrations have a dedicated workflow; the server image is published to GitHub Container Registry before Coolify deployment.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package.json; turbo.json; apps/*/Dockerfile; .github/workflows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6510528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Technical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F3F"/>
          </a:solidFill>
          <a:ln w="12700">
            <a:solidFill>
              <a:srgbClr val="15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984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ED65E"/>
                </a:solidFill>
                <a:latin typeface="Aptos"/>
              </a:rPr>
              <a:t>The architecture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0012680" cy="1572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 server-rendered React learning experience talks to a typed Hono/oRPC API, which applies authentication and business rules before persisting learning and commerce data in PostgreSQL.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886200"/>
            <a:ext cx="1965960" cy="38404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3931920"/>
            <a:ext cx="1856231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Fast UI iteration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886200"/>
            <a:ext cx="2194560" cy="38404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FF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3864" y="3931920"/>
            <a:ext cx="2084831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End-to-end type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3886200"/>
            <a:ext cx="2377440" cy="384048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DF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3931920"/>
            <a:ext cx="226771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4356B"/>
                </a:solidFill>
                <a:latin typeface="Aptos"/>
              </a:rPr>
              <a:t>Modular business domains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886200"/>
            <a:ext cx="1920240" cy="384048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FF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04504" y="3931920"/>
            <a:ext cx="1810512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B3748"/>
                </a:solidFill>
                <a:latin typeface="Aptos"/>
              </a:rPr>
              <a:t>Automated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80760"/>
            <a:ext cx="21945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Habitutor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6099048"/>
            <a:ext cx="3474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0">
                <a:solidFill>
                  <a:srgbClr val="D2D2D2"/>
                </a:solidFill>
                <a:latin typeface="Aptos"/>
              </a:rPr>
              <a:t>Tech stack and website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F3F"/>
          </a:solidFill>
          <a:ln w="12700">
            <a:solidFill>
              <a:srgbClr val="15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Architecture &amp; technology deep dives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691640"/>
            <a:ext cx="97383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0">
                <a:solidFill>
                  <a:srgbClr val="D9EFFA"/>
                </a:solidFill>
                <a:latin typeface="Aptos"/>
              </a:rPr>
              <a:t>Every following slide answers four questions: What is it? Why was it chosen? What could replace it? How is it used in Habitutor?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3246120" cy="65836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24356B"/>
                </a:solidFill>
                <a:latin typeface="Aptos"/>
              </a:rPr>
              <a:t>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063240"/>
            <a:ext cx="3246120" cy="65836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246120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24356B"/>
                </a:solidFill>
                <a:latin typeface="Aptos"/>
              </a:rPr>
              <a:t>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063240"/>
            <a:ext cx="3246120" cy="65836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3246120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24356B"/>
                </a:solidFill>
                <a:latin typeface="Aptos"/>
              </a:rP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60520"/>
            <a:ext cx="3246120" cy="65836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43400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24356B"/>
                </a:solidFill>
                <a:latin typeface="Aptos"/>
              </a:rPr>
              <a:t>Backend &amp;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60520"/>
            <a:ext cx="3246120" cy="65836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4343400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24356B"/>
                </a:solidFill>
                <a:latin typeface="Aptos"/>
              </a:rPr>
              <a:t>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160520"/>
            <a:ext cx="3246120" cy="658368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343400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24356B"/>
                </a:solidFill>
                <a:latin typeface="Aptos"/>
              </a:rPr>
              <a:t>Delivery &amp;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760720"/>
            <a:ext cx="8092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Written for both technical and non-technical audiences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Split web and API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The screens and the business engine are separate applications that communicate over the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web app renders pages and handles interaction. A separate API server applies rules, reads or writes data, and integrates with external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lets the user experience and backend scale or deploy independently, while keeping security-sensitive logic away from the browser.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single full-stack application is simpler initially. Serverless functions can remove a long-running server. Microservices offer more isolation but add operational complexity.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apps/web runs TanStack Start on port 3000. apps/server runs Hono on port 3001. The web app calls typed oRPC endpoints at /rpc with session cookies.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apps/web; apps/server/src/index.ts; apps/web/src/utils/orpc.ts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Server-side rendering and hydration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The server sends a ready-to-read page, then React makes it interactive in the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Server-side rendering creates initial HTML before it reaches the user. Hydration attaches browser-side React behavior to that HTML.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improves first-page loading and search visibility while preserving a smooth app-like experience after the page becomes interactive.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client-only single-page app is simpler to host but shows content later. Static generation is very fast but less suitable for personalized dashboards.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TanStack Start renders routes, Vite builds them, and Nitro produces the server output. Protected pages receive session-aware route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apps/web/vite.config.ts; apps/web/src/router.tsx; apps/web/src/routes/__root.tsx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File-based routing and route 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The folder structure describes the website pages, while guard routes act like access checkpoints.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Each route file maps to a URL. Parent layouts can load shared data or redirect users before protected child pages render.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Developers can understand navigation from the repository structure, and authentication rules are applied consistently to whole route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manually configured route table offers explicit control. Framework-specific routing such as Next.js App Router combines routing with a different server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TanStack Router generates routeTree.gen.ts. _auth redirects signed-in users, _authenticated requires a session, and /admin requires an admin role.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apps/web/src/routes; apps/web/src/router.tsx; apps/web/src/routeTree.gen.ts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End-to-end typed API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The frontend and backend share the same vocabulary, so many integration mistakes are caught before release.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API route definitions produce TypeScript types that the browser client consumes. Inputs, outputs, and errors stay aligned across the network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reduces duplicated interface definitions, speeds refactoring, and catches misspelled fields or incompatible response shapes during development.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REST with handwritten types is universal but can drift. GraphQL provides a schema and flexible queries. tRPC offers a similar TypeScript-first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appRouter type is exported from @habitutor/api. The web creates an oRPC client and TanStack Query helpers from that router type.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packages/api/src/routers/index.ts; apps/web/src/utils/orpc.ts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Role-based and premium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Every request is checked against what the signed-in person is allowed to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Role-based access control grants capabilities according to identity attributes such as user, premium member, or administrator.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UI hiding alone is not secure. Backend checks ensure restricted content and admin actions cannot be reached by calling the API directly.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Attribute-based policies can express more complex rules. Per-resource access-control lists are useful for collaborative ownership but need more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Better Auth stores role and premium fields. API middleware exposes public, authenticated, premium, and admin procedure tiers; route guards improve UX.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packages/auth/src/index.ts; packages/api/src/index.ts; apps/web/src/routes/admin.tsx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Relational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Information is stored in connected tables, similar to linked spreadsheets with strict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relational model organizes users, learning content, answers, progress, and transactions into tables connected by keys and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Habitutor has strongly related data and transaction-sensitive workflows. PostgreSQL provides consistency, joins, constraints, and mature reporting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MongoDB favors flexible documents. Firestore offers managed realtime data. Both can be useful, but cross-domain relationships and reporting may be harder.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Drizzle schemas cover auth, users, subtests, questions, packs, flashcards, tryouts, transactions, referrals, notifications, and universities.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packages/db/src/schema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Webhooks and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Payment updates arrive as messages from Midtrans, and a scheduled safety check catches anything missed.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webhook is a server-to-server notification. Reconciliation periodically compares local transactions with the payment provider's authoritative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Users may close a payment page, networks may fail, and notifications may be delayed. The combination improves reliability without trusting the browser.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Browser redirects alone are simpler but unreliable. Frequent polling works but wastes requests. Queue-based event processing is stronger at larger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Midtrans posts a signed event to /webhooks/midtrans. The API updates transaction and premium state; a background job checks unresolved transactions.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apps/server/src/index.ts; packages/api/src/jobs.ts; packages/api/src/routers/transaction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Monorepo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The website, API, and shared building blocks live in one coordinated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monorepo stores multiple applications and reusable packages together while preserving package boundaries.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Frontend and backend changes can be reviewed together, shared types stay synchronized, and one toolchain can build the entire product.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Separate repositories offer stronger team isolation. A single undivided application is simpler but makes reusable boundaries less explicit.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Bun workspaces include apps/* and packages/*. Shared packages provide API, auth, database, configuration, and domain utilities.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package.json; apps; packages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Bun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Bun is the engine and toolbox used to install, run, test, and build much of the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Bun combines a JavaScript runtime, package manager, test runner, and bundler with TypeScript-friendly defaults.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unified, fast tool reduces setup and command overhead. The project can use the same runtime locally, in containers, and for the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Node.js with npm, pnpm, or Yarn has the broadest ecosystem. Deno emphasizes secure defaults and web standards.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repository pins Bun 1.3.5. Scripts use bun install, bun test, bun build, and Bun runtime targets for web and server deployments.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package.json; apps/web/package.json; apps/server/package.json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Turborepo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Turborepo coordinates work across all applications and avoids repeating unchanged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Turborepo is a task runner for monorepos. It understands dependencies between package builds, tests, type checks, and development servers.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provides one command for the whole repository and can cache repeatable outputs, making local work and CI faster.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Nx provides a broader plugin ecosystem and project graph. Lerna focuses on package management. Custom scripts are simple but harder to optimize.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Root scripts call turbo dev, build, test, and check-types. Package filters run individual apps or database tasks.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turbo.json; package.json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TypeScript checks that pieces of code fit together before the website is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TypeScript adds compile-time types to JavaScript, describing data shapes, function inputs, and return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same language can cover browser, server, and shared packages while catching many mistakes early and improving editor assistance.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JavaScript has less setup but fewer early checks. Languages such as Go or C# provide stronger backend boundaries but require a multi-language stack.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Strict TypeScript is used across workspaces. CI runs type checks, and shared router types connect the frontend client to backend procedures.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package.json; packages/config; apps/*/tsconfig.json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React builds the website interface from reusable pieces such as buttons, forms, dashboards, and learning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React is a component-based library that updates the page when application data or user interaction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has a mature ecosystem, strong TypeScript support, and integrates directly with TanStack Start, Router, Query, forms, and UI libraries.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Vue offers an approachable template model. Svelte compiles components with less runtime work. Angular provides a larger all-in-one framework.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Functional React components define route screens and shared UI. React 19.2.4 is used with React DOM and server rendering.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apps/web/package.json; apps/web/src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TanStack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TanStack Start turns the React interface into a complete server-rendered web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TanStack Start is a React framework that combines routing, server rendering, data loading, and deployment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aligns with the project's TanStack Router and Query usage while retaining explicit control over routing and server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Next.js has a larger ecosystem and hosted conventions. Remix emphasizes web standards. A Vite SPA avoids SSR complexity.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Vite plugin enables TanStack Start. Route files generate the tree, and Nitro creates the production server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apps/web/vite.config.ts; apps/web/package.json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Nitro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Nitro packages the server-rendered web app into something that can run in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Nitro is a server toolkit and deployment layer that produces runtime output for modern JavaScript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gives TanStack Start a consistent server build and supports a Bun runtime, matching the project's platform choice.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custom Hono SSR server gives more control. Framework-specific adapters or serverless-only output can reduce portability.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Nitro Vite plugin generates apps/web/.output. The web start command runs .output/server/index.mjs with Bun.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apps/web/vite.config.ts; apps/web/package.json; apps/web/Dockerfile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TanStack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The router decides which page appears for each URL and what must happen before it opens.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TanStack Router provides type-safe navigation, nested layouts, route loaders, search parameters, and generated file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URLs and navigation remain typed, and route context can carry the session, API helpers, and query client.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React Router is widely adopted. Next.js and Remix include their own routers. Manual URL handling is unsuitable at this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createTanStackRouter receives routeTree, loading and error screens, scroll restoration, and shared oRPC/query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apps/web/src/router.tsx; apps/web/src/routeTree.gen.ts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TanStack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It remembers server data, handles loading, and refreshes information after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TanStack Query manages asynchronous server state: fetching, caching, retries, invalidation, loading states, and mutations.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Dashboard and learning screens reuse data and need predictable refresh behavior without hand-writing request state in every component.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SWR is smaller and cache-focused. Apollo Client targets GraphQL. Custom fetch hooks offer control but duplicate common behavior.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shared QueryClient wraps the router. @orpc/tanstack-query generates queryOptions and mutationOptions from typed procedures.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apps/web/src/router.tsx; apps/web/src/utils/orpc.ts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Tailwind CSS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Tailwind provides small styling building blocks that designers and developers combine directly in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Tailwind is a utility-first CSS framework for layout, spacing, typography, responsive rules, and design tokens.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supports rapid, consistent interface work and makes responsive behavior visible next to the component markup.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CSS Modules isolate authored styles. Sass provides variables and nesting. CSS-in-JS offers dynamic styles but adds runtime or build complexity.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Vite Tailwind plugin compiles utilities. index.css defines Habitutor colors, typography, themes, and accessibility motion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apps/web/vite.config.ts; apps/web/src/index.css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Radix UI and shadcn-style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Accessible interaction behavior is reused, while Habitutor keeps control of the visual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Radix provides unstyled accessible primitives. The shadcn pattern keeps composed component source inside the 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Dialogs, selects, menus, and tooltips gain keyboard and screen-reader behavior without forcing a generic visual theme.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Material UI and Chakra UI offer complete design systems. Building every control from scratch gives control but increases accessibility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Radix packages underpin components in apps/web/src/components/ui. Tailwind, class-variance-authority, and cn() define variants and styling.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apps/web/package.json; apps/web/src/components/ui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Tiptap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Tiptap gives administrators a document editor for creating rich learning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Tiptap is an extensible rich-text editor built on ProseMirror, supporting structured content and editor extensions.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Learning notes need headings, lists, links, images, highlights, alignment, and formatting beyond a plain text area.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Lexical and Slate are extensible editor frameworks. CKEditor and TinyMCE provide more batteries-included commercial-style editors.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web app installs Tiptap core, React bindings, Starter Kit, image, link, list, typography, highlight, and formatting extensions.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apps/web/package.json; apps/web/src/components/tiptap-*; apps/web/src/routes/admin/classes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Recharts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Recharts turns platform numbers into visual charts for administrators.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Recharts is a React chart library for composing line, bar, area, and other data visualizations.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fits the React component model and is sufficient for dashboard analytics without introducing a separate visualization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Chart.js is canvas-based and widely used. ECharts supports advanced visualizations. D3 offers maximum control with more implementation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Administrative analytics components consume API statistics and render charts using the Recharts package.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apps/web/package.json; apps/web/src/routes/admin/-components/business-analytics.tsx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Hono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Hono is the lightweight web server that receives API, authentication, and payment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Hono is a small, web-standard HTTP framework for routing requests and applying middleware.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works naturally with Bun and Fetch API Request/Response objects while keeping server startup and middleware straightforward.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Express has the largest Node ecosystem. Fastify emphasizes performance and schemas. NestJS provides a more opinionated enterprise structure.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server configures logging, CORS, Better Auth routes, oRPC handlers, OpenAPI routes, webhook aliases, and a health endpoint.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apps/server/src/index.ts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oRPC and OpenAPI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oRPC connects screens to backend functions safely, while OpenAPI documents the same capabilities for other clients.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oRPC defines typed procedures and exposes them through RPC and standards-based OpenAPI handlers.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web team gets end-to-end TypeScript inference, while external tools can still use documented HTTP endpoints.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REST controllers are universal but require more contract synchronization. tRPC is TypeScript-first. GraphQL centralizes a query schema.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appRouter combines student and admin domains. The server mounts RPC at /rpc and OpenAPI at /api-reference.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packages/api/src/routers/index.ts; apps/server/src/index.ts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ArkType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ArkType checks that incoming and outgoing data has the expected shape.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ArkType is a runtime validation library with TypeScript-oriented schemas and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Static TypeScript checks disappear at runtime. API boundaries still need to reject malformed requests and document valid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Zod has a large ecosystem. Valibot emphasizes small bundles. JSON Schema is language-neutral but more verbose to author directly.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oRPC routes declare ArkType input and output schemas. A converter produces JSON Schema for the OpenAPI reference.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packages/api/src/routers; apps/server/src/index.ts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PostgreSQL is the main system of record for accounts, learning progress, content, and 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PostgreSQL is an open-source relational database with transactions, constraints, indexes, and advanced 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Habitutor needs dependable relationships and atomic updates for exam sessions, scoring, referrals, and premium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MySQL is a capable relational alternative. MongoDB favors flexible documents. Managed databases reduce operations but increase vendor dependence.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Local Docker uses PostgreSQL 18. The application connects through pg/Drizzle, and schema migrations are applied by CI.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compose.yml; packages/db/src/index.ts; packages/db/src/migrations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Drizzle 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Drizzle lets developers work with database tables using typed TypeScript rather than raw SQL everywhere.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Drizzle is a TypeScript ORM and SQL query builder with schema definitions, inferred types, and migration tooling.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keeps queries close to SQL while providing compile-time checks and shared database types across backend modules.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Prisma offers a high-level generated client. Kysely is a typed query builder. Raw SQL gives full control with more manual typing.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Schemas live under packages/db/src/schema. Repositories use Drizzle queries; drizzle-kit generates and applies migrations.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packages/db/package.json; packages/db/src/schema; packages/api/src/routers/*/repo.ts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Better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Better Auth manages sign-in, sessions, identity verification, and secure browser cookies.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Better Auth is a TypeScript authentication framework with database adapters, password login, social providers, and plugins.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keeps identity data in Habitutor's PostgreSQL database while supporting web and Expo clients without building authentication from scratch.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Auth.js integrates broadly with frameworks. Clerk and Auth0 are managed services. Supabase Auth pairs identity with a hosted platform.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Drizzle adapter stores auth data. Email/password, Google OAuth, email OTP, account deletion, session caching, and Expo support are enabled.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packages/auth/src/index.ts; packages/db/src/schema/auth.ts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Midtrans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Midtrans processes premium payments using payment methods familiar to Indonesian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Midtrans is an Indonesian payment gateway. Snap provides hosted checkout and server notifications for transaction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supports local payment methods and reduces the need for Habitutor to handle sensitive payment details directly.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Xendit is another regional gateway. Stripe has broad international tooling but local availability and payment methods differ.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API creates transactions and Snap tokens. Signed webhook notifications and reconciliation update payment and premium status.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packages/api/src/lib/midtrans.ts; packages/api/src/routers/transaction; apps/web/src/lib/midtrans.ts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Resend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Resend delivers important account emails such as verification codes and password resets.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Resend is a transactional email service with a developer-focused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Reliable delivery, sender configuration, and email infrastructure are better handled by a specialist provider than by the application server.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Postmark emphasizes transactional delivery. SendGrid provides a broad email platform. Amazon SES is cost-effective but more operational.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Better Auth calls Resend for email verification OTPs, password-reset messages, and account-deletion confirmation.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packages/auth/src/index.ts; packages/auth/src/lib/templates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Cloudinary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Cloudinary stores and delivers uploaded media without making the Habitutor server act as a file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Cloudinary is a managed media platform for uploads, transformations, optimization, and CDN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offloads large binary files, improves delivery, and provides image processing without custom storage infrastructure.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Amazon S3 plus a CDN offers lower-level control. ImageKit provides similar media optimization. Local disk is fragile in containers.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Backend utilities authenticate Cloudinary operations, and content workflows store resulting media references in application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packages/api/src/lib/cloudinary.ts; apps/server/package.json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YouTube playback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Class videos are streamed through YouTube instead of Habitutor hosting and transcoding video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YouTube provides video hosting, adaptive streaming, device compatibility, and an embeddable player.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Video delivery is bandwidth-intensive. A mature platform handles quality levels and global playback more efficiently.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Vimeo offers polished private video features. Mux specializes in developer video infrastructure. Self-hosting gives control at higher cost.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React YouTube and shared URL helpers embed class videos and normalize video identifiers within learning content.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apps/web/src/components/media/youtube-player.tsx; packages/shared/src/youtube.ts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Expo Push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Expo Push sends timely mobile notifications through the Apple and Android notification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Expo's push service accepts device tokens and routes notifications to APNs and Firebase Cloud Messaging.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simplifies cross-platform push delivery for Expo-compatible mobile clients and centralizes receipt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Direct FCM and APNs offer maximum control. OneSignal provides a managed engagement platform with segmentation tools.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API contains Expo push utilities and notification services; Better Auth also trusts Expo and Habitutor mobile deep-link origins.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packages/api/src/lib/expo-push.ts; packages/auth/src/index.ts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Progressive Web App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Students can use the website more like an installed mobile app from their home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Progressive Web App uses browser capabilities to provide install prompts, app-like launch behavior, and mobile-friendly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gives students convenient mobile access without requiring every web update to pass through an app store.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 native iOS/Android app offers deeper device integration. A normal responsive website has the lowest maintenance burden.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authenticated dashboard includes a PWA tutorial dialog and home-screen guidance, with responsive layouts across the web app.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apps/web/src/routes/_authenticated/dashboard/-components/pwa-tutorial-dialog.tsx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Docker packages the software and its runtime so production behaves consistently.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Docker builds immutable container images containing application code, dependencies, and startup commands.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Containers reduce environment differences, make deployment reproducible, and fit Coolify's hosting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Bare virtual machines provide direct control. Serverless platforms manage runtime operations. Nix offers reproducible environments differently.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Separate Dockerfiles build web and server artifacts with Bun. Compose defines the server and PostgreSQL services for local or hosted operation.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apps/web/Dockerfile; apps/server/Dockerfile; compose.yml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GitHub Actions automatically checks and deploys changes after code is pushed.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GitHub Actions is a CI/CD service that runs repository-defined workflows on hosted runners.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is integrated with the source repository and can gate deployment on repeatable linting and type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GitLab CI, CircleCI, and Buildkite provide similar pipelines. Manual deployment is simple but inconsistent and risky.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Main-branch workflows install Bun, build packages, lint, type-check, build/push the server image, trigger Coolify, and run migrations.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.github/workflows/build-web.yml; .github/workflows/build-server.yml; .github/workflows/migrate.yml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GitHub Container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GHCR stores the versioned server package that Coolify deploys.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GitHub Container Registry is a private or public registry for Docker/OCI images associated with GitHub repositories.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keeps source code, build automation, permissions, and container artifacts within the GitHub ecosystem.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Docker Hub is broadly supported. Amazon ECR integrates with AWS. A private registry offers control with more maintenance.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The server workflow logs into ghcr.io and publishes ghcr.io/habitutor/server:latest before triggering deployment.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.github/workflows/build-server.yml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Coolify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Coolify runs the production applications and redeploys them when automation sends a webhook.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Coolify is a self-hostable application deployment platform for containers, services, domains, and environment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offers platform-as-a-service convenience while retaining infrastructure control and supporting Docker-based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Vercel specializes in frontend/serverless delivery. Render and Fly.io provide managed application hosting. Kubernetes offers more scale complexity.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GitHub Actions invokes protected Coolify webhooks after checks pass. The server uses a GHCR image; the web application is built from source.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.github/workflows/build-web.yml; .github/workflows/build-server.yml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Oxlint and Oxfmt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These tools automatically catch suspicious code and keep formatting consistent.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Oxlint is a fast JavaScript/TypeScript linter. Oxfmt is a formatter that standardizes whitespace and code layout.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Fast checks encourage frequent use and reduce review time spent on style or common correctness problems.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ESLint has the largest plugin ecosystem. Prettier is the established formatter. Biome combines formatting and linting.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Root lint scripts run oxlint and oxfmt. CI executes linting before deployment, using repository configuration files.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package.json; .oxlintrc.json; .oxfmtrc.json; .github/workflows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4356B"/>
                </a:solidFill>
                <a:latin typeface="Aptos"/>
              </a:rPr>
              <a:t>Bun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14400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5A74C8"/>
                </a:solidFill>
                <a:latin typeface="Aptos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420624"/>
            <a:ext cx="43891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5A74C8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881360" cy="566928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04790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24356B"/>
                </a:solidFill>
                <a:latin typeface="Aptos"/>
              </a:rPr>
              <a:t>IN PLAIN ENGLISH  •  Automated tests confirm that important rules still behave correctly when code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30368" cy="1600200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1600200"/>
          </a:xfrm>
          <a:prstGeom prst="rect">
            <a:avLst/>
          </a:prstGeom>
          <a:solidFill>
            <a:srgbClr val="5A74C8"/>
          </a:solidFill>
          <a:ln w="12700">
            <a:solidFill>
              <a:srgbClr val="5A7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494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Bun Test is Bun's Jest-compatible test runner for unit and integration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103120"/>
            <a:ext cx="5431536" cy="1600200"/>
          </a:xfrm>
          <a:prstGeom prst="roundRect">
            <a:avLst/>
          </a:prstGeom>
          <a:solidFill>
            <a:srgbClr val="DDF7E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2103120"/>
            <a:ext cx="73152" cy="1600200"/>
          </a:xfrm>
          <a:prstGeom prst="rect">
            <a:avLst/>
          </a:prstGeom>
          <a:solidFill>
            <a:srgbClr val="1CA35B"/>
          </a:solidFill>
          <a:ln w="12700">
            <a:solidFill>
              <a:srgbClr val="1C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49424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Why Habitutor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It uses the existing runtime and supports fast tests without adding another primary test engine.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30368" cy="1600200"/>
          </a:xfrm>
          <a:prstGeom prst="roundRect">
            <a:avLst/>
          </a:prstGeom>
          <a:solidFill>
            <a:srgbClr val="FFF5D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73152" cy="1600200"/>
          </a:xfrm>
          <a:prstGeom prst="rect">
            <a:avLst/>
          </a:prstGeom>
          <a:solidFill>
            <a:srgbClr val="FED65E"/>
          </a:solidFill>
          <a:ln w="12700">
            <a:solidFill>
              <a:srgbClr val="FED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059936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Alternatives considered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62272"/>
            <a:ext cx="484632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Vitest integrates closely with Vite. Jest has a large ecosystem. Playwright adds end-to-end browser testing.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913632"/>
            <a:ext cx="5431536" cy="1600200"/>
          </a:xfrm>
          <a:prstGeom prst="roundRect">
            <a:avLst/>
          </a:prstGeom>
          <a:solidFill>
            <a:srgbClr val="FFF0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3913632"/>
            <a:ext cx="73152" cy="1600200"/>
          </a:xfrm>
          <a:prstGeom prst="rect">
            <a:avLst/>
          </a:prstGeom>
          <a:solidFill>
            <a:srgbClr val="FB3748"/>
          </a:solidFill>
          <a:ln w="12700">
            <a:solidFill>
              <a:srgbClr val="FB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59936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4356B"/>
                </a:solidFill>
                <a:latin typeface="Aptos"/>
              </a:rPr>
              <a:t>How it is implemented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62272"/>
            <a:ext cx="504748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Aptos"/>
              </a:rPr>
              <a:t>API business rules, transaction behavior, referrals, server routes, and selected web utilities have co-located test files run by turbo test.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09360"/>
            <a:ext cx="9966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777777"/>
                </a:solidFill>
                <a:latin typeface="Aptos"/>
              </a:rPr>
              <a:t>Evidence: package.json; apps/server/package.json; packages/api/src/**/*.test.ts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09360"/>
            <a:ext cx="175564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777777"/>
                </a:solidFill>
                <a:latin typeface="Aptos"/>
              </a:rPr>
              <a:t>Habitutor • Concept deep 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Habitutor Tech Stack and Website Overview</dc:title>
  <dc:subject>Non-technical and technical overview of Habitutor architecture and technology choices</dc:subject>
  <dc:creator>Habitutor</dc:creator>
  <cp:keywords>Habitutor, React, TanStack Start, Hono, oRPC, PostgreSQL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